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84" r:id="rId3"/>
  </p:sldMasterIdLst>
  <p:notesMasterIdLst>
    <p:notesMasterId r:id="rId9"/>
  </p:notesMasterIdLst>
  <p:handoutMasterIdLst>
    <p:handoutMasterId r:id="rId10"/>
  </p:handoutMasterIdLst>
  <p:sldIdLst>
    <p:sldId id="410" r:id="rId4"/>
    <p:sldId id="259" r:id="rId5"/>
    <p:sldId id="420" r:id="rId6"/>
    <p:sldId id="421" r:id="rId7"/>
    <p:sldId id="416" r:id="rId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5539" autoAdjust="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5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0" d="100"/>
          <a:sy n="60" d="100"/>
        </p:scale>
        <p:origin x="-2376" y="3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02DE191-34F9-6557-AC93-4F145DFBE7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C6E8B78-AD89-DB10-022B-925889BB9F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697C189-846B-4F47-8361-E953C05881B0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4BA93784-9254-B036-B1AB-1C6B6E8C02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5AA1AD47-36AC-29C2-2F81-65F932765B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1DEC861-185F-7740-9CB4-1A34F67B8E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EBCEAB-A806-F0C1-6C88-7DBDBDE85D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B8748-06CD-412A-B5D5-0FAF81BAD8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391DA04-2497-604B-B2CC-58092ED41490}" type="datetimeFigureOut">
              <a:rPr lang="en-US"/>
              <a:pPr>
                <a:defRPr/>
              </a:pPr>
              <a:t>1/22/26</a:t>
            </a:fld>
            <a:endParaRPr lang="en-GB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4E27477-BBB1-2DB9-CC6E-BAD686619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4B0EC4-3626-0DB4-6BA0-82AD841B5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7C09-5A94-DA00-436F-4D9268785C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D2BE7-CE7D-DEB1-E4F6-1ADCA7B12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A8837E7-3149-2F42-AB06-21E495A6B37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606F2FD-574E-C0C0-72E1-5C301BA296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2C14CC3F-EF2B-81D7-C29A-FD081D6537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09C30BB-8566-7B6C-4C6F-592AB4034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5DA681-ACB9-AE4D-A5E9-476793C2CBC2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9A8DCE36-3532-14D0-5097-D4D0C9BC48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Slide Number Placeholder 3">
            <a:extLst>
              <a:ext uri="{FF2B5EF4-FFF2-40B4-BE49-F238E27FC236}">
                <a16:creationId xmlns:a16="http://schemas.microsoft.com/office/drawing/2014/main" id="{4FB22FE0-D1C5-D075-11DA-2F37CDF3E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8526EE-2120-3A4A-B90F-A8CE52CCC5E9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8196" name="Notes Placeholder 4">
            <a:extLst>
              <a:ext uri="{FF2B5EF4-FFF2-40B4-BE49-F238E27FC236}">
                <a16:creationId xmlns:a16="http://schemas.microsoft.com/office/drawing/2014/main" id="{BE7E105A-7D47-A91C-42BC-F583F90C8152}"/>
              </a:ext>
            </a:extLst>
          </p:cNvPr>
          <p:cNvSpPr>
            <a:spLocks noGrp="1"/>
          </p:cNvSpPr>
          <p:nvPr/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65B5741-F794-F5EC-EEDA-1DAC56AC87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9E8A6E3A-15BF-53C1-E19A-C3BC414A3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84BEDE-A68D-194F-8188-45386499FB5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0244" name="Notes Placeholder 4">
            <a:extLst>
              <a:ext uri="{FF2B5EF4-FFF2-40B4-BE49-F238E27FC236}">
                <a16:creationId xmlns:a16="http://schemas.microsoft.com/office/drawing/2014/main" id="{33EE2C92-58D0-8BC7-3FD4-27D4B01070CC}"/>
              </a:ext>
            </a:extLst>
          </p:cNvPr>
          <p:cNvSpPr>
            <a:spLocks noGrp="1"/>
          </p:cNvSpPr>
          <p:nvPr/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0C57525-B208-90DD-7476-79772F4871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Slide Number Placeholder 3">
            <a:extLst>
              <a:ext uri="{FF2B5EF4-FFF2-40B4-BE49-F238E27FC236}">
                <a16:creationId xmlns:a16="http://schemas.microsoft.com/office/drawing/2014/main" id="{41A34737-1980-6DA1-4DB9-09E8AD7C6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008593-503E-7043-9B40-C1333BC70E48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2292" name="Notes Placeholder 4">
            <a:extLst>
              <a:ext uri="{FF2B5EF4-FFF2-40B4-BE49-F238E27FC236}">
                <a16:creationId xmlns:a16="http://schemas.microsoft.com/office/drawing/2014/main" id="{5A1DF026-8F93-60B8-FCB4-368C1B27FA91}"/>
              </a:ext>
            </a:extLst>
          </p:cNvPr>
          <p:cNvSpPr>
            <a:spLocks noGrp="1"/>
          </p:cNvSpPr>
          <p:nvPr/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5279A6FB-922C-FD20-5435-9A925A1959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DC867ABC-08C1-F584-28DA-B74DD8D4B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C29071-F71F-8B4B-8762-0FAA931D6AE2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340" name="Notes Placeholder 4">
            <a:extLst>
              <a:ext uri="{FF2B5EF4-FFF2-40B4-BE49-F238E27FC236}">
                <a16:creationId xmlns:a16="http://schemas.microsoft.com/office/drawing/2014/main" id="{174B2C69-1700-03C2-FAD9-BD2D7B7C11FF}"/>
              </a:ext>
            </a:extLst>
          </p:cNvPr>
          <p:cNvSpPr>
            <a:spLocks noGrp="1"/>
          </p:cNvSpPr>
          <p:nvPr/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7" tIns="46589" rIns="93177" bIns="46589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57E81165-9A3A-6468-DEB5-01D5C78A78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0"/>
            <a:ext cx="13208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7700" y="1447800"/>
            <a:ext cx="7848600" cy="12954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3048000"/>
            <a:ext cx="8077200" cy="635000"/>
          </a:xfrm>
        </p:spPr>
        <p:txBody>
          <a:bodyPr/>
          <a:lstStyle>
            <a:lvl1pPr marL="0" indent="0" algn="ctr">
              <a:buFontTx/>
              <a:buNone/>
              <a:defRPr sz="36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66800" y="10668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D19C62-1E56-F23C-C4D3-BDFBF61829A6}"/>
              </a:ext>
            </a:extLst>
          </p:cNvPr>
          <p:cNvSpPr>
            <a:spLocks noGrp="1" noChangeArrowheads="1"/>
          </p:cNvSpPr>
          <p:nvPr>
            <p:ph type="dt" sz="half" idx="14"/>
          </p:nvPr>
        </p:nvSpPr>
        <p:spPr/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fld id="{31CBF687-E1ED-E046-AE05-249D803B7987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5F899D-DB42-0E6F-F5D1-0E6D769DC310}"/>
              </a:ext>
            </a:extLst>
          </p:cNvPr>
          <p:cNvSpPr>
            <a:spLocks noGrp="1" noChangeArrowheads="1"/>
          </p:cNvSpPr>
          <p:nvPr>
            <p:ph type="ftr" sz="quarter" idx="15"/>
          </p:nvPr>
        </p:nvSpPr>
        <p:spPr/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54BFB7-B8FB-D52A-C545-2128BAD20413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>
                <a:latin typeface="Trebuchet MS" panose="020B0603020202020204" pitchFamily="34" charset="0"/>
              </a:defRPr>
            </a:lvl1pPr>
          </a:lstStyle>
          <a:p>
            <a:pPr>
              <a:defRPr/>
            </a:pPr>
            <a:fld id="{D9053945-841A-024C-81FF-899089AE68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85328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6EA629-C8E7-B463-4C40-CCDA73F555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3623B-6080-A248-95E9-AD6FA0C0F54A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96470D-AE8C-1695-746E-6F58D3FF13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59A4E6-9AAF-CAA1-BB7C-B6E37CEAB2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77299-CBE7-424F-B7CF-433FBC780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41256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A5ADBE-1467-A8DC-F19E-55256FD63C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7652F-E307-0448-8131-95E02B2DD6B4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C737D9-1B54-9CC7-A015-59D594D043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BE7B56-B2F9-D196-0356-7D2471E46D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96414-84A8-BC42-9256-5832518DF7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8320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88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8288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F737C-B90C-8093-AA2C-05528C549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5D129-560B-AC49-AB01-4E16C5970789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2898D-5738-0AFC-A524-BA6F23A52A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5C918-ED70-F37C-6F2D-D5C2F7F4D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11283-A742-444A-9E7D-02F3C53637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5324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2189768-80ED-7D2B-298D-DE83C3384E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F2FAB-4D4D-E943-993F-55B0BF089C89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D9B2C5-6C35-51D6-3BBD-B2CD36C1B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A3049E4-E62C-76F6-2485-28B1C1F9F9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2D4C0-3FDA-9F42-B719-D06048762F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138916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6FC6C3D-6BF8-28EE-AF0F-CE35B86E5D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CC9AE-86ED-7C4D-B2EE-7C84AFDD3437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C4F1A3-F692-ED17-8D1F-A8756A1042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0E3DE6-FEB3-4BB4-64C1-73B2C6212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28DC0-60C8-624D-8AA2-AD19F682E8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12180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76F3F8-1306-4253-206A-C2B0EF7A8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01A57-8F81-934D-AA8E-26EC3AAC9979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EC0302-7207-C9AD-1B15-A9A208225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7B9FE3-5D3B-AD4D-0F6B-79A2BC488E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691F4-42F8-1047-9F46-DF8E611F0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72029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9EF5F-504A-CE8A-86D5-43759C2CDC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A477C1-9AEB-E240-A120-90D6E62B50B8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E8F8A-ABD3-19FF-452A-F10DAD5B36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C719DF-8E5D-AE64-034F-C3A35FEFE6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9FBAC-1EE2-634F-9A60-01D08028AA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23516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75893-48F5-E22C-2415-E7FBC0CEC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BFF5A-51E1-5546-8F9F-F8231AD8EEA5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FF798-1B1E-3E83-9FFB-A19A6E580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908B7-5B92-4B93-B72B-87BDAE37C2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2757A-FF68-E14F-A8BA-B29703866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2724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8EA643-3A43-FCCF-EA42-19ABAEB73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6C33A-396E-2D4F-9398-A6FFB282B7D2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D0D7FD-EE3D-1BA8-BC80-8CE3D10F41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62807C-9657-F95B-77CD-2DC12B41E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8772D-1CAC-2B41-9066-92CE1A1E6C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92693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685800"/>
            <a:ext cx="20193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685800"/>
            <a:ext cx="59055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8477F3-42A4-B8D9-C86D-976FDF2FEA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D1167-0B70-444E-B93D-C515883AD14A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730241-0591-8EB1-1874-9C65DC387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1C5BC5-6744-BD94-2BF9-7AE46DF16F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B9009-66D5-C243-B296-71A95F9149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8744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A37C1E-A195-F23F-2162-D901F2A172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828800"/>
            <a:ext cx="8077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 bullet text</a:t>
            </a:r>
          </a:p>
          <a:p>
            <a:pPr lvl="2"/>
            <a:r>
              <a:rPr lang="en-US" altLang="en-US"/>
              <a:t>Third level bullet text</a:t>
            </a:r>
          </a:p>
          <a:p>
            <a:pPr lvl="3"/>
            <a:r>
              <a:rPr lang="en-US" altLang="en-US"/>
              <a:t> Fourth level bullet text</a:t>
            </a:r>
          </a:p>
          <a:p>
            <a:pPr lvl="4"/>
            <a:r>
              <a:rPr lang="en-US" altLang="en-US"/>
              <a:t>Fifth level bullet text</a:t>
            </a:r>
          </a:p>
          <a:p>
            <a:pPr lvl="1"/>
            <a:endParaRPr lang="en-US" altLang="en-US"/>
          </a:p>
          <a:p>
            <a:pPr lvl="2"/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0A591-77E4-BBD1-CD40-329415C5A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6858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6F2C0BA7-6365-42DB-E618-9A1D716D61F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8991120-F02F-3841-973C-C82C0CF6ABA8}" type="datetimeFigureOut">
              <a:rPr lang="en-US"/>
              <a:pPr>
                <a:defRPr/>
              </a:pPr>
              <a:t>1/22/26</a:t>
            </a:fld>
            <a:endParaRPr lang="en-US" dirty="0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018633D3-DFC2-3C5F-945A-34C9FA6FAF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710920AE-7224-5FA9-E088-6F5BD7CB50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/>
            </a:lvl1pPr>
          </a:lstStyle>
          <a:p>
            <a:pPr>
              <a:defRPr/>
            </a:pPr>
            <a:fld id="{90CBB1E7-F04B-524D-B832-22C90533CF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2">
            <a:extLst>
              <a:ext uri="{FF2B5EF4-FFF2-40B4-BE49-F238E27FC236}">
                <a16:creationId xmlns:a16="http://schemas.microsoft.com/office/drawing/2014/main" id="{D84EB7D1-AA23-1952-F54D-801043FC0F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963" y="0"/>
            <a:ext cx="1062037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17" r:id="rId2"/>
    <p:sldLayoutId id="2147484718" r:id="rId3"/>
    <p:sldLayoutId id="2147484719" r:id="rId4"/>
    <p:sldLayoutId id="2147484720" r:id="rId5"/>
    <p:sldLayoutId id="2147484721" r:id="rId6"/>
    <p:sldLayoutId id="2147484722" r:id="rId7"/>
    <p:sldLayoutId id="2147484723" r:id="rId8"/>
    <p:sldLayoutId id="2147484724" r:id="rId9"/>
    <p:sldLayoutId id="2147484725" r:id="rId10"/>
    <p:sldLayoutId id="214748472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bg2"/>
        </a:buClr>
        <a:buChar char="•"/>
        <a:defRPr sz="3200">
          <a:solidFill>
            <a:srgbClr val="284C6A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rebuchet MS" panose="020B0703020202090204" pitchFamily="34" charset="0"/>
        <a:buChar char="−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rebuchet MS" panose="020B0703020202090204" pitchFamily="34" charset="0"/>
        <a:buChar char="−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8E62B66-5C83-0E45-E219-C54C3121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685800"/>
            <a:ext cx="7086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5000"/>
              </a:lnSpc>
              <a:spcBef>
                <a:spcPct val="20000"/>
              </a:spcBef>
              <a:buClr>
                <a:schemeClr val="bg2"/>
              </a:buClr>
              <a:buChar char="•"/>
              <a:defRPr sz="3200">
                <a:solidFill>
                  <a:srgbClr val="284C6A"/>
                </a:solidFill>
                <a:latin typeface="Trebuchet MS" panose="020B0703020202090204" pitchFamily="34" charset="0"/>
              </a:defRPr>
            </a:lvl1pPr>
            <a:lvl2pPr marL="742950" indent="-285750">
              <a:spcBef>
                <a:spcPct val="20000"/>
              </a:spcBef>
              <a:buFont typeface="Trebuchet MS" panose="020B0703020202090204" pitchFamily="34" charset="0"/>
              <a:buChar char="−"/>
              <a:defRPr sz="2800"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spcBef>
                <a:spcPct val="20000"/>
              </a:spcBef>
              <a:buFont typeface="Trebuchet MS" panose="020B0703020202090204" pitchFamily="34" charset="0"/>
              <a:buChar char="−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SLIDES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-ASSIGNMENT -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RMCT RESEARCH PROPOSAL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Subtitle 4">
            <a:extLst>
              <a:ext uri="{FF2B5EF4-FFF2-40B4-BE49-F238E27FC236}">
                <a16:creationId xmlns:a16="http://schemas.microsoft.com/office/drawing/2014/main" id="{5C39E140-81E0-8508-8926-06F30D29F2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3200400"/>
            <a:ext cx="8077200" cy="213360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KAEMON NG BAO LENG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 No:  TP082265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Intake Code: APD2F2506CS(AI)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Lecturer: Dr. Hemalatha Ramalingam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25/01/2026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>
            <a:extLst>
              <a:ext uri="{FF2B5EF4-FFF2-40B4-BE49-F238E27FC236}">
                <a16:creationId xmlns:a16="http://schemas.microsoft.com/office/drawing/2014/main" id="{7077D5FE-562A-1BEF-B65C-6CA2992615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6934200" cy="1143000"/>
          </a:xfrm>
        </p:spPr>
        <p:txBody>
          <a:bodyPr/>
          <a:lstStyle/>
          <a:p>
            <a:pPr algn="l" eaLnBrk="1" hangingPunct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  Public Transport Prediction: Enhancing Operational Efficiency by using Receptance Weighted Key Value (RWKV) based architecture</a:t>
            </a: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BBEBCD-689E-4174-05E0-E74651DE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04800"/>
            <a:ext cx="69342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9pPr>
          </a:lstStyle>
          <a:p>
            <a:pPr marL="838200" indent="-838200" eaLnBrk="1" hangingPunct="1">
              <a:defRPr/>
            </a:pPr>
            <a:r>
              <a:rPr lang="en-US" altLang="en-US" sz="2800" b="1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TITLE/PROBLEM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8D53B-468B-FFD4-6974-0154BBF41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1"/>
            <a:ext cx="69342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9pPr>
          </a:lstStyle>
          <a:p>
            <a:pPr marL="838200" indent="-838200" algn="l" eaLnBrk="1" hangingPunct="1">
              <a:defRPr/>
            </a:pPr>
            <a:r>
              <a:rPr lang="en-US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838200" indent="-838200" algn="l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</a:t>
            </a:r>
            <a:r>
              <a:rPr lang="en-US" altLang="zh-CN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 demand mismatch (due to dynamic factors)</a:t>
            </a:r>
          </a:p>
          <a:p>
            <a:pPr marL="838200" indent="-838200" algn="l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Quadratic Complexity Bottleneck (O(N</a:t>
            </a:r>
            <a:r>
              <a:rPr lang="en-US" altLang="en-US" sz="2000" b="1" kern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838200" indent="-838200" algn="l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Infeasibility for real-time operations (due to resource consumption)</a:t>
            </a:r>
          </a:p>
          <a:p>
            <a:pPr marL="838200" indent="-838200" algn="l" eaLnBrk="1" hangingPunct="1">
              <a:buFont typeface="Arial" panose="020B0604020202020204" pitchFamily="34" charset="0"/>
              <a:buChar char="•"/>
              <a:defRPr/>
            </a:pPr>
            <a:endParaRPr lang="en-US" alt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74B853-6C05-EF1C-D598-448C60300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6934200" cy="533400"/>
          </a:xfrm>
        </p:spPr>
        <p:txBody>
          <a:bodyPr/>
          <a:lstStyle/>
          <a:p>
            <a:pPr marL="838200" indent="-838200" algn="ctr" eaLnBrk="1" hangingPunct="1"/>
            <a:r>
              <a:rPr lang="en-US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RQ and RO(In table)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9022BFE-96AF-61EF-CF56-831D838A6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00200"/>
            <a:ext cx="69342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284C6A"/>
                </a:solidFill>
                <a:latin typeface="Trebuchet MS" pitchFamily="34" charset="0"/>
              </a:defRPr>
            </a:lvl9pPr>
          </a:lstStyle>
          <a:p>
            <a:pPr marL="838200" indent="-838200" algn="l" eaLnBrk="1" hangingPunct="1">
              <a:defRPr/>
            </a:pPr>
            <a:endParaRPr lang="en-US" alt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B0C224-ED07-2DA1-F4DD-4875C6945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204383"/>
              </p:ext>
            </p:extLst>
          </p:nvPr>
        </p:nvGraphicFramePr>
        <p:xfrm>
          <a:off x="1524000" y="1397000"/>
          <a:ext cx="60960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00409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24893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46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  What are the impact and vulnerability of public transport operations regarding demand prediction?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To examine how public transport operations are affected regarding demand prediction.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59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 What are the key limitations of Transformer Encoder in public transport operations?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 To investigate the shortcomings of Transformer Encoder in public transport operations.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67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 How may RWKV improve prediction accuracy and lower resource consumption for public transport operations?  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   To propose RWKV for public transport operations to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improve </a:t>
                      </a:r>
                      <a:r>
                        <a:rPr lang="en-MY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prediction accuracy and lower resource consumption.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336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C6986D5-9147-345A-FC93-DC5F542F6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6934200" cy="533400"/>
          </a:xfrm>
        </p:spPr>
        <p:txBody>
          <a:bodyPr/>
          <a:lstStyle/>
          <a:p>
            <a:pPr marL="838200" indent="-838200" algn="ctr" eaLnBrk="1" hangingPunct="1"/>
            <a:r>
              <a:rPr lang="en-US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FED2A-A309-3164-3C36-1D7F371CF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066" y="1006510"/>
            <a:ext cx="2872468" cy="5483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E467C05-B304-3BF6-66F0-10E2BF01F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2514600"/>
            <a:ext cx="6934200" cy="533400"/>
          </a:xfrm>
        </p:spPr>
        <p:txBody>
          <a:bodyPr/>
          <a:lstStyle/>
          <a:p>
            <a:pPr marL="838200" indent="-838200" algn="ctr" eaLnBrk="1" hangingPunct="1"/>
            <a:r>
              <a:rPr lang="en-US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IIT Themes">
  <a:themeElements>
    <a:clrScheme name="Training seminar presentatio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raining seminar presentatio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raining seminar presentatio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ining seminar 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ining seminar presentati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ining seminar presentatio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ining seminar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ining seminar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ining seminar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C553380ADE24B80380F33BC613192" ma:contentTypeVersion="10" ma:contentTypeDescription="Create a new document." ma:contentTypeScope="" ma:versionID="1c483c66b5093a2aab55ade7a20a08d7">
  <xsd:schema xmlns:xsd="http://www.w3.org/2001/XMLSchema" xmlns:xs="http://www.w3.org/2001/XMLSchema" xmlns:p="http://schemas.microsoft.com/office/2006/metadata/properties" xmlns:ns2="227b4171-c2f7-477e-84c4-ad1645beea57" xmlns:ns3="3790adb1-0365-498f-8ce6-17a6b42faeea" targetNamespace="http://schemas.microsoft.com/office/2006/metadata/properties" ma:root="true" ma:fieldsID="41831180297ada558286a3de356a1e58" ns2:_="" ns3:_="">
    <xsd:import namespace="227b4171-c2f7-477e-84c4-ad1645beea57"/>
    <xsd:import namespace="3790adb1-0365-498f-8ce6-17a6b42fae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7b4171-c2f7-477e-84c4-ad1645bee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fa2f0fd-091f-4bb0-ac47-4188aa05d4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90adb1-0365-498f-8ce6-17a6b42faee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07352b-920c-43fc-a7cb-a8c68d82179a}" ma:internalName="TaxCatchAll" ma:showField="CatchAllData" ma:web="3790adb1-0365-498f-8ce6-17a6b42fae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C2ED88-0D7F-4235-9725-047FF18DE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7b4171-c2f7-477e-84c4-ad1645beea57"/>
    <ds:schemaRef ds:uri="3790adb1-0365-498f-8ce6-17a6b42fae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4A41AA-32C4-4C6A-A5DA-93AFBA73D2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5439</TotalTime>
  <Words>210</Words>
  <Application>Microsoft Macintosh PowerPoint</Application>
  <PresentationFormat>On-screen Show (4:3)</PresentationFormat>
  <Paragraphs>30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Calibri</vt:lpstr>
      <vt:lpstr>Times New Roman</vt:lpstr>
      <vt:lpstr>APIIT Themes</vt:lpstr>
      <vt:lpstr>PowerPoint Presentation</vt:lpstr>
      <vt:lpstr>TITLE:   Public Transport Prediction: Enhancing Operational Efficiency by using Receptance Weighted Key Value (RWKV) based architecture  </vt:lpstr>
      <vt:lpstr>2. RQ and RO(In table)</vt:lpstr>
      <vt:lpstr>4. PROPOSED SYSTEM</vt:lpstr>
      <vt:lpstr>THANK YOU</vt:lpstr>
    </vt:vector>
  </TitlesOfParts>
  <Company>FiN™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APIIT Job Placement System (FYP) Slides v2</dc:title>
  <dc:creator>Wan Zainal Arifin Bin Wan Azmin</dc:creator>
  <cp:lastModifiedBy>KAEMON NG BAO LENG</cp:lastModifiedBy>
  <cp:revision>719</cp:revision>
  <dcterms:created xsi:type="dcterms:W3CDTF">2007-10-26T08:45:16Z</dcterms:created>
  <dcterms:modified xsi:type="dcterms:W3CDTF">2026-01-22T13:57:07Z</dcterms:modified>
</cp:coreProperties>
</file>